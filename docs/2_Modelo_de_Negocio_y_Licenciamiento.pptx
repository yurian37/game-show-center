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5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0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2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6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6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0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3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92C10-16DF-4989-A261-F9D32433AA3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EB99C-987A-4BE0-84AE-95D975E6B6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6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508000" y="508000"/>
            <a:ext cx="11176000" cy="584200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28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redondeado 2"/>
          <p:cNvSpPr/>
          <p:nvPr/>
        </p:nvSpPr>
        <p:spPr>
          <a:xfrm>
            <a:off x="1016000" y="952500"/>
            <a:ext cx="3683000" cy="330200"/>
          </a:xfrm>
          <a:prstGeom prst="roundRect">
            <a:avLst/>
          </a:prstGeom>
          <a:solidFill>
            <a:srgbClr val="192037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38100" rtlCol="0" anchor="ctr"/>
          <a:lstStyle/>
          <a:p>
            <a:pPr algn="ctr"/>
            <a:r>
              <a:rPr lang="en-US" sz="950" b="1" smtClean="0">
                <a:solidFill>
                  <a:srgbClr val="6366F1"/>
                </a:solidFill>
                <a:latin typeface="Segoe UI" panose="020B0502040204020203" pitchFamily="34" charset="0"/>
              </a:rPr>
              <a:t>â˜… YONIA ENTERPRISE • ESTRATEGIA COMERCIAL</a:t>
            </a:r>
            <a:endParaRPr lang="en-US" sz="950" b="1">
              <a:solidFill>
                <a:srgbClr val="6366F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016000" y="1498600"/>
            <a:ext cx="10160000" cy="127727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4000" b="1" smtClean="0">
                <a:solidFill>
                  <a:srgbClr val="FFFFFF"/>
                </a:solidFill>
                <a:latin typeface="Segoe UI Black" panose="020B0A02040204020203" pitchFamily="34" charset="0"/>
              </a:rPr>
              <a:t>MODELO DE NEGOCIO Y LICENCIAMIENTO</a:t>
            </a:r>
            <a:endParaRPr lang="en-US" sz="4000" b="1">
              <a:solidFill>
                <a:srgbClr val="FFFFFF"/>
              </a:solidFill>
              <a:latin typeface="Segoe UI Black" panose="020B0A02040204020203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016000" y="24765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600" smtClean="0">
                <a:solidFill>
                  <a:srgbClr val="06B6D4"/>
                </a:solidFill>
                <a:latin typeface="Segoe UI Semibold" panose="020B0702040204020203" pitchFamily="34" charset="0"/>
              </a:rPr>
              <a:t>Monetización Web, Publicidad Programática y Esquema de Suscripción Institucional</a:t>
            </a:r>
            <a:endParaRPr lang="en-US" sz="1600">
              <a:solidFill>
                <a:srgbClr val="06B6D4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16000" y="3149600"/>
            <a:ext cx="1016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smtClean="0">
                <a:solidFill>
                  <a:srgbClr val="94A3B8"/>
                </a:solidFill>
                <a:latin typeface="Segoe UI" panose="020B0502040204020203" pitchFamily="34" charset="0"/>
              </a:rPr>
              <a:t>Estrategia integral de sostenibilidad financiera: captación de ingresos masivos en la web abierta y licenciamiento recurrente B2B con fechas de caducidad para escuelas, colegios y universidades.</a:t>
            </a:r>
            <a:endParaRPr lang="en-US" sz="12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1016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206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6366F1"/>
                </a:solidFill>
                <a:latin typeface="Segoe UI" panose="020B0502040204020203" pitchFamily="34" charset="0"/>
              </a:rPr>
              <a:t>Monetización Web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Adsterra Display Banners y venta directa de Sponsor Spaces exclusivos.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445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4635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F59E0B"/>
                </a:solidFill>
                <a:latin typeface="Segoe UI" panose="020B0502040204020203" pitchFamily="34" charset="0"/>
              </a:rPr>
              <a:t>Licencias con Caducidad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Modelo SaaS por año lectivo que asegura ingresos predecibles y soporte continuo.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7874000" y="4381500"/>
            <a:ext cx="3238500" cy="15875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8064500" y="4508500"/>
            <a:ext cx="28575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200" b="1" smtClean="0">
                <a:solidFill>
                  <a:srgbClr val="10B981"/>
                </a:solidFill>
                <a:latin typeface="Segoe UI" panose="020B0502040204020203" pitchFamily="34" charset="0"/>
              </a:rPr>
              <a:t>Activación Offline (.lic)</a:t>
            </a: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Firma asimétrica criptográfica vinculada al HWID sin DRM invasivo.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82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1844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F59E0B"/>
                </a:solidFill>
                <a:latin typeface="Segoe UI" panose="020B0502040204020203" pitchFamily="34" charset="0"/>
              </a:rPr>
              <a:t>PANORAMA DE MERCADO</a:t>
            </a:r>
            <a:endParaRPr lang="en-US" sz="9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La Evolución del Negocio en Software Educativo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Por qué el modelo clásico de 'pago único por software' ha quedado obsoleto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89000" y="1905000"/>
            <a:ext cx="29845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FALLA ]  El Problema del Pago Único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Vender un software una sola vez condena al desarrollador: no hay presupuesto para soporte a largo plazo, el cliente no recibe actualizaciones curriculares y se fomenta la copia pirata descontrolada sin relación continua.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43815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4635500" y="1905000"/>
            <a:ext cx="29845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MODELO ]  El Modelo Híbrido Sostenible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Game Show Center divide su enfoque: la plataforma Web genera tráfico abierto y monetización pasiva, mientras que el Runtime Offline ofrece soluciones corporativas e institucionales mediante contratos anuales.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8128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382000" y="1905000"/>
            <a:ext cx="29845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50" b="1" smtClean="0">
                <a:solidFill>
                  <a:srgbClr val="FFFFFF"/>
                </a:solidFill>
                <a:latin typeface="Segoe UI" panose="020B0502040204020203" pitchFamily="34" charset="0"/>
              </a:rPr>
              <a:t>[ VALOR ]  Suscripción por Licencia (ARR)</a:t>
            </a:r>
          </a:p>
          <a:p>
            <a:endParaRPr lang="es-ES" sz="11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Al pagar por licencia anual y no por el software, las escuelas aseguran acompañamiento pedagógico, actualización del motor de IA, nuevos minijuegos y adaptación continua al temario escolar del ciclo.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3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1879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6366F1"/>
                </a:solidFill>
                <a:latin typeface="Segoe UI" panose="020B0502040204020203" pitchFamily="34" charset="0"/>
              </a:rPr>
              <a:t>MONETIZACIÓN WEB</a:t>
            </a:r>
            <a:endParaRPr lang="en-US" sz="900" b="1">
              <a:solidFill>
                <a:srgbClr val="6366F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Estrategia Publicitaria en la Plataforma Web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Generación de ingresos digitales limpios mediante redes programáticas y patrocinio directo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952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PUBLICIDAD PROGRAMÁTICA (Adsterra)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Monetización Automatizada del Tráfico Abierto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Banners Skyscraper 160x600: Integración lateral limpia en los marcos del juego (Sponsor Space izquierdo y derecho).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Filtros Estrictos Family-Safe: Bloqueo exhaustivo de contenido para adultos (18+), apuestas, casinos, software malicioso y alertas falsas.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Monetización Global por Impresión (CPM): Monetiza las millones de partidas y demostraciones que estudiantes y profesores juegan en línea.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Sistema de Respaldo Resiliente: Si un usuario usa bloqueador de anuncios, se muestra automáticamente la promoción de la versión de escritorio.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540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ESPACIOS DE PATROCINIO DIRECTO (Sponsors)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Venta Exclusiva a Marcas Educativas y Tecnológicas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Banners Institucionales Exclusivos: Venta directa de espacios en la web a librerías, universidades, academias de idiomas y ferias tecnológicas.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Patrocinio de Torneos Escolares: Marcas que financian ligas inter-colegiales a cambio de presencia visual destacada durante las transmisiones en vivo.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Mayor Margen de Ganancia: Tarifas fijas mensuales o anuales de patrocinio con 100% de retención del ingreso sin intermediarios.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Impacto Positivo de Marca: Las empresas patrocinadoras proyectan apoyo tangible a la educación pública y privada.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31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9972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F59E0B"/>
                </a:solidFill>
                <a:latin typeface="Segoe UI" panose="020B0502040204020203" pitchFamily="34" charset="0"/>
              </a:rPr>
              <a:t>FILOSOFÍA DE LICENCIAMIENTO</a:t>
            </a:r>
            <a:endParaRPr lang="en-US" sz="900" b="1">
              <a:solidFill>
                <a:srgbClr val="F59E0B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Pago por Licencia vs. Pago por Software Perpetuo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La justificación económica y estratégica de las licencias con fecha de caducidad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952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F59E0B"/>
                </a:solidFill>
                <a:latin typeface="Segoe UI" panose="020B0502040204020203" pitchFamily="34" charset="0"/>
              </a:rPr>
              <a:t>PAGO POR SOFTWARE (Modelo Antiguo ❌)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Venta Perpetua del Archivo Ejecutable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Ingreso único que no financia el futuro: El desarrollador no puede costear servidores, ingenieros de IA ni soporte técnico después de la compra.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Desconexión rápida con el cliente: No existe incentivo para mantener el software actualizado con nuevos temarios curriculares.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Vulnerabilidad a la piratería: Un único instalador filtrado se comparte indiscriminadamente entre instituciones sin control.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Obsolescencia garantizada: El cliente se queda con una versión estática que se desactualiza ante nuevos sistemas operativos.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540500" y="1905000"/>
            <a:ext cx="4699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PAGO POR LICENCIA (Modelo Moderno ✅)</a:t>
            </a:r>
          </a:p>
          <a:p>
            <a:r>
              <a:rPr lang="es-ES" sz="1100" smtClean="0">
                <a:solidFill>
                  <a:srgbClr val="06B6D4"/>
                </a:solidFill>
                <a:latin typeface="Segoe UI" panose="020B0502040204020203" pitchFamily="34" charset="0"/>
              </a:rPr>
              <a:t>Suscripción Institucional con Fecha de Caducidad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Alineación con el Ciclo Escolar: Las licencias se sincronizan con el año lectivo (enero-diciembre o septiembre-junio), encajando en los presupuestos anuales.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Flujo de Ingresos Recurrente y Predecible: Permite planificar el desarrollo de nuevos minijuegos y la mejora constante de los modelos de IA.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Soporte y Garantía Total: Las escuelas reciben asistencia técnica prioritaria, talleres pedagógicos para docentes y reemplazo de licencias.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00" smtClean="0">
                <a:solidFill>
                  <a:srgbClr val="94A3B8"/>
                </a:solidFill>
                <a:latin typeface="Segoe UI" panose="020B0502040204020203" pitchFamily="34" charset="0"/>
              </a:rPr>
              <a:t>â€¢ Actualizaciones Periódicas Incluidas: Acceso inmediato a mejoras de rendimiento, nuevos modos de juego y bancos de preguntas actualizados.</a:t>
            </a:r>
            <a:endParaRPr lang="en-US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3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1844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SEGURIDAD &amp; CONTROL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Arquitectura del Sistema de Licencias con Caducidad (.lic)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Protección criptográfica robusta que opera 100% offline sin necesidad de conexión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89000" y="1841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1. Firma por Hardware ID (HWID)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Cada instalación genera una huella criptográfica basada en los componentes del equipo del aula, vinculando la licencia a los equipos autorizados de la institución.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6223000" y="1651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6477000" y="1841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2. Fecha de Caducidad Integrada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El archivo de licencia codifica una fecha de vencimiento inmutable. Al culminar el ciclo escolar contratado, el sistema solicita amablemente la llave de renovación.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635000" y="3937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89000" y="4127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3. Criptografía Asimétrica Offline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La validación se realiza mediante pares de llaves pública/privada en local. La computadora del colegio NO necesita conexión a internet para validar su autenticidad.</a:t>
            </a:r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6223000" y="3937000"/>
            <a:ext cx="5334000" cy="203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6477000" y="4127500"/>
            <a:ext cx="4826000" cy="15311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 smtClean="0">
                <a:solidFill>
                  <a:srgbClr val="FFFFFF"/>
                </a:solidFill>
                <a:latin typeface="Segoe UI" panose="020B0502040204020203" pitchFamily="34" charset="0"/>
              </a:rPr>
              <a:t>4. Llaves Maestras y Códigos VIP</a:t>
            </a:r>
          </a:p>
          <a:p>
            <a:endParaRPr lang="en-U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n-US" smtClean="0"/>
              <a:t>El panel administrativo de YonIA Enterprise permite generar claves promocionales para pruebas piloto de 30 días o licencias completas para distritos escolares.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8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3876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06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06B6D4"/>
                </a:solidFill>
                <a:latin typeface="Segoe UI" panose="020B0502040204020203" pitchFamily="34" charset="0"/>
              </a:rPr>
              <a:t>ESTRUCTURA DE PRECIOS</a:t>
            </a:r>
            <a:endParaRPr lang="en-US" sz="9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Planes y Paquetes de Licenciamiento Comercial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Propuestas comerciales diseñadas para docentes independientes, colegios y universidades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25500" y="1841500"/>
            <a:ext cx="2222500" cy="25699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[ B2C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Hogar / Consumo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Descarga de la versión Offline básica por $9.99 USD + paquetes temáticos de minijuegos (DLCs) a $3.99 - $5.99 USD para eventos familiares.</a:t>
            </a:r>
            <a:endParaRPr lang="en-US"/>
          </a:p>
        </p:txBody>
      </p:sp>
      <p:sp>
        <p:nvSpPr>
          <p:cNvPr id="7" name="Rectángulo redondeado 6"/>
          <p:cNvSpPr/>
          <p:nvPr/>
        </p:nvSpPr>
        <p:spPr>
          <a:xfrm>
            <a:off x="3429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3619500" y="1841500"/>
            <a:ext cx="2222500" cy="284693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[ AULA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Plan Aula K-12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$49.00 USD / año por docente (hasta 3 equipos). Incluye todos los minijuegos base, motor de IA con RAG y actualizaciones curriculares durante todo el año lectivo.</a:t>
            </a:r>
            <a:endParaRPr lang="en-US"/>
          </a:p>
        </p:txBody>
      </p:sp>
      <p:sp>
        <p:nvSpPr>
          <p:cNvPr id="9" name="Rectángulo redondeado 8"/>
          <p:cNvSpPr/>
          <p:nvPr/>
        </p:nvSpPr>
        <p:spPr>
          <a:xfrm>
            <a:off x="6223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6413500" y="1841500"/>
            <a:ext cx="2222500" cy="32470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[ CAMPUS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Plan Escuela Completa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$199 a $399 USD / año por centro educativo. Instalaciones ilimitadas en aulas y salas de cómputo, soporte técnico directo y banco curricular K-12 certificado.</a:t>
            </a:r>
            <a:endParaRPr lang="en-US"/>
          </a:p>
        </p:txBody>
      </p:sp>
      <p:sp>
        <p:nvSpPr>
          <p:cNvPr id="11" name="Rectángulo redondeado 10"/>
          <p:cNvSpPr/>
          <p:nvPr/>
        </p:nvSpPr>
        <p:spPr>
          <a:xfrm>
            <a:off x="9017000" y="1651000"/>
            <a:ext cx="2603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9207500" y="1841500"/>
            <a:ext cx="2222500" cy="284693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F59E0B"/>
                </a:solidFill>
                <a:latin typeface="Segoe UI" panose="020B0502040204020203" pitchFamily="34" charset="0"/>
              </a:rPr>
              <a:t>[ PRO ]</a:t>
            </a:r>
          </a:p>
          <a:p>
            <a:r>
              <a:rPr lang="es-ES" sz="1300" b="1" smtClean="0">
                <a:solidFill>
                  <a:srgbClr val="FFFFFF"/>
                </a:solidFill>
                <a:latin typeface="Segoe UI" panose="020B0502040204020203" pitchFamily="34" charset="0"/>
              </a:rPr>
              <a:t>Universidad / Dev Kit</a:t>
            </a:r>
          </a:p>
          <a:p>
            <a:endParaRPr lang="es-ES" sz="100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mtClean="0"/>
              <a:t>$499 a $999 USD / año. Incluye código fuente educativo (Dev Learning Kit) para facultades de informática y laboratorios de gamificación aplicada.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3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35052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PROPUESTA DE VALOR INSTITUCIONAL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Retorno de Inversión (ROI) y Justificación Presupuestaria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Por qué las instituciones educativas prefieren una suscripción institucional anual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863600" y="1841500"/>
            <a:ext cx="3048000" cy="238834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6366F1"/>
                </a:solidFill>
                <a:latin typeface="Segoe UI" panose="020B0502040204020203" pitchFamily="34" charset="0"/>
              </a:rPr>
              <a:t>Costo Ínfimo por Estudiante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En una escuela de 500 alumnos, un plan campus de $299/año representa menos de $0.60 USD al año por estudiante.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Cero inversión en infraestructura adicional: se ejecuta en cualquier computadora Windows con proyector existente.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No requiere contratar servidores cloud ni pagar licencias por usuario individual.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Se amortiza en el primer período escolar mediante el ahorro de papel fotocopiado.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43815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A85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4610100" y="1841500"/>
            <a:ext cx="3048000" cy="246836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A855F7"/>
                </a:solidFill>
                <a:latin typeface="Segoe UI" panose="020B0502040204020203" pitchFamily="34" charset="0"/>
              </a:rPr>
              <a:t>Alineación con el Presupuesto Anual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Los colegios planifican sus gastos por año fiscal/lectivo; la suscripción encaja naturalmente en sus partidas ordinarias.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Facilidad para renovar o cancelar según la satisfacción y uso de la institución.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Facturación institucional formal y contratos de servicio educativo garantizados.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Acceso garantizado a las últimas versiones del motor de IA sin costos ocultos.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8128000" y="1651000"/>
            <a:ext cx="3492500" cy="45720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356600" y="1841500"/>
            <a:ext cx="3048000" cy="223753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500" b="1" smtClean="0">
                <a:solidFill>
                  <a:srgbClr val="10B981"/>
                </a:solidFill>
                <a:latin typeface="Segoe UI" panose="020B0502040204020203" pitchFamily="34" charset="0"/>
              </a:rPr>
              <a:t>Sostenibilidad de la Empresa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Flujo de caja recurrente (ARR) que permite financiar un equipo continuo de desarrollo e investigación pedagógica.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Margen de retención de clientes superior al 85% gracias a la satisfacción docente.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Posibilidad de reinvertir en la comunidad mediante concursos y becas educativas.</a:t>
            </a:r>
          </a:p>
          <a:p>
            <a:endParaRPr lang="es-ES" sz="98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980" smtClean="0">
                <a:solidFill>
                  <a:srgbClr val="94A3B8"/>
                </a:solidFill>
                <a:latin typeface="Segoe UI" panose="020B0502040204020203" pitchFamily="34" charset="0"/>
              </a:rPr>
              <a:t>â€¢ Crecimiento predecible y escalable para YonIA Enterprise.</a:t>
            </a:r>
            <a:endParaRPr lang="en-US" sz="98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6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35000" y="317500"/>
            <a:ext cx="2489200" cy="279400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1600" tIns="25400" rtlCol="0" anchor="ctr"/>
          <a:lstStyle/>
          <a:p>
            <a:pPr algn="ctr"/>
            <a:r>
              <a:rPr lang="en-US" sz="900" b="1" smtClean="0">
                <a:solidFill>
                  <a:srgbClr val="10B981"/>
                </a:solidFill>
                <a:latin typeface="Segoe UI" panose="020B0502040204020203" pitchFamily="34" charset="0"/>
              </a:rPr>
              <a:t>CONCLUSIÓN ESTRATÉGICA</a:t>
            </a:r>
            <a:endParaRPr lang="en-US" sz="9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35000" y="635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100" b="1" smtClean="0">
                <a:solidFill>
                  <a:srgbClr val="F1F5F9"/>
                </a:solidFill>
                <a:latin typeface="Segoe UI" panose="020B0502040204020203" pitchFamily="34" charset="0"/>
              </a:rPr>
              <a:t>Un Modelo de Negocio Rentable, Escalable y de Alto Impacto</a:t>
            </a:r>
            <a:endParaRPr lang="en-US" sz="2100" b="1">
              <a:solidFill>
                <a:srgbClr val="F1F5F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35000" y="1143000"/>
            <a:ext cx="10922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100" smtClean="0">
                <a:solidFill>
                  <a:srgbClr val="94A3B8"/>
                </a:solidFill>
                <a:latin typeface="Segoe UI" panose="020B0502040204020203" pitchFamily="34" charset="0"/>
              </a:rPr>
              <a:t>Uniendo la rentabilidad económica con la transformación educativa en Iberoamérica</a:t>
            </a:r>
            <a:endParaRPr lang="en-US" sz="11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635000" y="1651000"/>
            <a:ext cx="1092200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1016000" y="1905000"/>
            <a:ext cx="10160000" cy="212365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â˜… RESUMEN EJECUTIVO Y CONCLUSIONES</a:t>
            </a:r>
          </a:p>
          <a:p>
            <a:endParaRPr lang="es-ES" sz="1100" smtClean="0">
              <a:solidFill>
                <a:srgbClr val="06B6D4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Game Show Center consolida un modelo comercial robusto donde la tecnología de calidad y el compromiso pedagógico generan valor tangible para todos los actores.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Monetización Web Permanente: Ingresos por publicidad limpia y patrocinios corporativos en la vitrina digital.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Licenciamiento Recurrente B2B: Contratos escolares anuales sincronizados con el ciclo lectivo y protegidos criptográficamente.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050" smtClean="0">
                <a:solidFill>
                  <a:srgbClr val="94A3B8"/>
                </a:solidFill>
                <a:latin typeface="Segoe UI" panose="020B0502040204020203" pitchFamily="34" charset="0"/>
              </a:rPr>
              <a:t>â€¢ Tecnología sin Dependencias: Cero costos recurrentes de servidores o APIs de terceros, garantizando un margen operativo superior al 80%.</a:t>
            </a:r>
          </a:p>
          <a:p>
            <a:endParaRPr lang="es-ES" sz="1050" smtClean="0">
              <a:solidFill>
                <a:srgbClr val="94A3B8"/>
              </a:solidFill>
              <a:latin typeface="Segoe UI" panose="020B0502040204020203" pitchFamily="34" charset="0"/>
            </a:endParaRPr>
          </a:p>
          <a:p>
            <a:r>
              <a:rPr lang="es-ES" sz="1300" b="1" smtClean="0">
                <a:solidFill>
                  <a:srgbClr val="F59E0B"/>
                </a:solidFill>
                <a:latin typeface="Segoe UI" panose="020B0502040204020203" pitchFamily="34" charset="0"/>
              </a:rPr>
              <a:t>Conversemos sobre alianzas y licencias institucionales</a:t>
            </a:r>
          </a:p>
          <a:p>
            <a:r>
              <a:rPr lang="es-ES" sz="1100" smtClean="0">
                <a:solidFill>
                  <a:srgbClr val="FFFFFF"/>
                </a:solidFill>
                <a:latin typeface="Segoe UI" panose="020B0502040204020203" pitchFamily="34" charset="0"/>
              </a:rPr>
              <a:t>YonIA Enterprise • Correo: yoniadevs@gmail.com • Dirección Comercial: gameshowcenter.com</a:t>
            </a:r>
            <a:endParaRPr lang="en-US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2340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1432</Words>
  <Application>Microsoft Office PowerPoint</Application>
  <PresentationFormat>Personalizado</PresentationFormat>
  <Paragraphs>147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Black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Administrador Pc</dc:creator>
  <cp:lastModifiedBy>Administrador Pc</cp:lastModifiedBy>
  <cp:revision>1</cp:revision>
  <dcterms:created xsi:type="dcterms:W3CDTF">2026-10-12T07:19:48Z</dcterms:created>
  <dcterms:modified xsi:type="dcterms:W3CDTF">2026-10-12T07:19:48Z</dcterms:modified>
</cp:coreProperties>
</file>