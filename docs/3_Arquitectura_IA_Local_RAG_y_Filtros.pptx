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114C8-E756-4715-A5A4-659495DDCBA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F0D9-1F46-43CB-A9DB-F1DFB6F93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1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114C8-E756-4715-A5A4-659495DDCBA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F0D9-1F46-43CB-A9DB-F1DFB6F93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55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114C8-E756-4715-A5A4-659495DDCBA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F0D9-1F46-43CB-A9DB-F1DFB6F93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99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114C8-E756-4715-A5A4-659495DDCBA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F0D9-1F46-43CB-A9DB-F1DFB6F93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41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114C8-E756-4715-A5A4-659495DDCBA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F0D9-1F46-43CB-A9DB-F1DFB6F93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29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114C8-E756-4715-A5A4-659495DDCBA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F0D9-1F46-43CB-A9DB-F1DFB6F93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57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114C8-E756-4715-A5A4-659495DDCBA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F0D9-1F46-43CB-A9DB-F1DFB6F93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0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114C8-E756-4715-A5A4-659495DDCBA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F0D9-1F46-43CB-A9DB-F1DFB6F93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6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114C8-E756-4715-A5A4-659495DDCBA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F0D9-1F46-43CB-A9DB-F1DFB6F93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16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114C8-E756-4715-A5A4-659495DDCBA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F0D9-1F46-43CB-A9DB-F1DFB6F93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8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114C8-E756-4715-A5A4-659495DDCBA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F0D9-1F46-43CB-A9DB-F1DFB6F93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79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114C8-E756-4715-A5A4-659495DDCBA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6F0D9-1F46-43CB-A9DB-F1DFB6F93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508000" y="508000"/>
            <a:ext cx="11176000" cy="584200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28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redondeado 2"/>
          <p:cNvSpPr/>
          <p:nvPr/>
        </p:nvSpPr>
        <p:spPr>
          <a:xfrm>
            <a:off x="1016000" y="952500"/>
            <a:ext cx="3683000" cy="330200"/>
          </a:xfrm>
          <a:prstGeom prst="roundRect">
            <a:avLst/>
          </a:prstGeom>
          <a:solidFill>
            <a:srgbClr val="192037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38100" rtlCol="0" anchor="ctr"/>
          <a:lstStyle/>
          <a:p>
            <a:pPr algn="ctr"/>
            <a:r>
              <a:rPr lang="pt-BR" sz="950" b="1" smtClean="0">
                <a:solidFill>
                  <a:srgbClr val="6366F1"/>
                </a:solidFill>
                <a:latin typeface="Segoe UI" panose="020B0502040204020203" pitchFamily="34" charset="0"/>
              </a:rPr>
              <a:t>â˜… YONIA ENTERPRISE • ARQUITECTURA DE IA</a:t>
            </a:r>
            <a:endParaRPr lang="en-US" sz="950" b="1">
              <a:solidFill>
                <a:srgbClr val="6366F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016000" y="1498600"/>
            <a:ext cx="10160000" cy="127727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4000" b="1" smtClean="0">
                <a:solidFill>
                  <a:srgbClr val="FFFFFF"/>
                </a:solidFill>
                <a:latin typeface="Segoe UI Black" panose="020B0A02040204020203" pitchFamily="34" charset="0"/>
              </a:rPr>
              <a:t>INTELIGENCIA ARTIFICIAL LOCAL Y TECNOLOGÍA RAG</a:t>
            </a:r>
            <a:endParaRPr lang="en-US" sz="4000" b="1">
              <a:solidFill>
                <a:srgbClr val="FFFFFF"/>
              </a:solidFill>
              <a:latin typeface="Segoe UI Black" panose="020B0A02040204020203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016000" y="2476500"/>
            <a:ext cx="1016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600" smtClean="0">
                <a:solidFill>
                  <a:srgbClr val="06B6D4"/>
                </a:solidFill>
                <a:latin typeface="Segoe UI Semibold" panose="020B0702040204020203" pitchFamily="34" charset="0"/>
              </a:rPr>
              <a:t>Generación Curricular, Desduplicación Inteligente, Búsqueda Visual y Filtros Escolares</a:t>
            </a:r>
            <a:endParaRPr lang="en-US" sz="1600">
              <a:solidFill>
                <a:srgbClr val="06B6D4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016000" y="3149600"/>
            <a:ext cx="10160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200" smtClean="0">
                <a:solidFill>
                  <a:srgbClr val="94A3B8"/>
                </a:solidFill>
                <a:latin typeface="Segoe UI" panose="020B0502040204020203" pitchFamily="34" charset="0"/>
              </a:rPr>
              <a:t>El motor de IA privado de Game Show Center: inferencia 100% offline con modelos GGUF, enriquecimiento documental RAG mediante PDFs escolares, algoritmos anti-colisión y moderación estricta de contenidos.</a:t>
            </a:r>
            <a:endParaRPr lang="en-US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1016000" y="4381500"/>
            <a:ext cx="3238500" cy="1587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1206500" y="4508500"/>
            <a:ext cx="2857500" cy="53860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200" b="1" smtClean="0">
                <a:solidFill>
                  <a:srgbClr val="6366F1"/>
                </a:solidFill>
                <a:latin typeface="Segoe UI" panose="020B0502040204020203" pitchFamily="34" charset="0"/>
              </a:rPr>
              <a:t>RAG con PDFs Escolares</a:t>
            </a: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Indexación local de hasta 10 libros de texto para generar preguntas basadas en el temario.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4445000" y="4381500"/>
            <a:ext cx="3238500" cy="1587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4635500" y="4508500"/>
            <a:ext cx="2857500" cy="69249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200" b="1" smtClean="0">
                <a:solidFill>
                  <a:srgbClr val="A855F7"/>
                </a:solidFill>
                <a:latin typeface="Segoe UI" panose="020B0502040204020203" pitchFamily="34" charset="0"/>
              </a:rPr>
              <a:t>Motor Anti-Colisión</a:t>
            </a:r>
          </a:p>
          <a:p>
            <a:r>
              <a:rPr lang="en-U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Algoritmos matemáticos (Jaccard, Tokens, Inversión) que eliminan preguntas cercanas o repetidas.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7874000" y="4381500"/>
            <a:ext cx="3238500" cy="1587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/>
          <p:cNvSpPr txBox="1"/>
          <p:nvPr/>
        </p:nvSpPr>
        <p:spPr>
          <a:xfrm>
            <a:off x="8064500" y="4508500"/>
            <a:ext cx="2857500" cy="53860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200" b="1" smtClean="0">
                <a:solidFill>
                  <a:srgbClr val="10B981"/>
                </a:solidFill>
                <a:latin typeface="Segoe UI" panose="020B0502040204020203" pitchFamily="34" charset="0"/>
              </a:rPr>
              <a:t>Imágenes y Juez Visual</a:t>
            </a: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Búsqueda local/web con verificación multimodal y filtros de seguridad K-12 estrictos.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334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3876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6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06B6D4"/>
                </a:solidFill>
                <a:latin typeface="Segoe UI" panose="020B0502040204020203" pitchFamily="34" charset="0"/>
              </a:rPr>
              <a:t>PARADIGMA TECNOLÓGICO</a:t>
            </a:r>
            <a:endParaRPr lang="en-US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Inferencia Local Offline vs. Inteligencia en la Nube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Por qué ejecutar modelos GGUF en el hardware del aula supera a las APIs externas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889000" y="1905000"/>
            <a:ext cx="2984500" cy="31547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50" b="1" smtClean="0">
                <a:solidFill>
                  <a:srgbClr val="FFFFFF"/>
                </a:solidFill>
                <a:latin typeface="Segoe UI" panose="020B0502040204020203" pitchFamily="34" charset="0"/>
              </a:rPr>
              <a:t>[ $0 API ]  Cero Costos de API por Consumo</a:t>
            </a:r>
          </a:p>
          <a:p>
            <a:endParaRPr lang="es-ES" sz="11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Servicios en la nube como OpenAI o Anthropic cobran por cada token generado. Game Show Center ejecuta modelos cuantizados GGUF (Qwen 3.5B / 9B) en el procesador local: los colegios generan millones de preguntas con costo $0 recurrente.</a:t>
            </a:r>
            <a:endParaRPr lang="en-US"/>
          </a:p>
        </p:txBody>
      </p:sp>
      <p:sp>
        <p:nvSpPr>
          <p:cNvPr id="7" name="Rectángulo redondeado 6"/>
          <p:cNvSpPr/>
          <p:nvPr/>
        </p:nvSpPr>
        <p:spPr>
          <a:xfrm>
            <a:off x="43815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6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4635500" y="1905000"/>
            <a:ext cx="2984500" cy="287771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50" b="1" smtClean="0">
                <a:solidFill>
                  <a:srgbClr val="FFFFFF"/>
                </a:solidFill>
                <a:latin typeface="Segoe UI" panose="020B0502040204020203" pitchFamily="34" charset="0"/>
              </a:rPr>
              <a:t>[ 0 ms ]  Cero Dependencia de Internet</a:t>
            </a:r>
          </a:p>
          <a:p>
            <a:endParaRPr lang="es-ES" sz="11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El asistente de IA funciona en medio del bosque o en un aula sin señal de red. La inferencia local garantiza que la preparación de la clase nunca se detenga por saturación de ancho de banda o caídas de servidores externos.</a:t>
            </a:r>
            <a:endParaRPr lang="en-US"/>
          </a:p>
        </p:txBody>
      </p:sp>
      <p:sp>
        <p:nvSpPr>
          <p:cNvPr id="9" name="Rectángulo redondeado 8"/>
          <p:cNvSpPr/>
          <p:nvPr/>
        </p:nvSpPr>
        <p:spPr>
          <a:xfrm>
            <a:off x="81280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8382000" y="1905000"/>
            <a:ext cx="2984500" cy="287771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50" b="1" smtClean="0">
                <a:solidFill>
                  <a:srgbClr val="FFFFFF"/>
                </a:solidFill>
                <a:latin typeface="Segoe UI" panose="020B0502040204020203" pitchFamily="34" charset="0"/>
              </a:rPr>
              <a:t>[ PRIVACIDAD ]  Privacidad Absoluta (COPPA/FERPA)</a:t>
            </a:r>
          </a:p>
          <a:p>
            <a:endParaRPr lang="es-ES" sz="11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Al usar IA en la nube, los datos de los estudiantes y temarios confidenciales viajan a servidores extranjeros. En Game Show Center, ni un solo byte sale de la computadora: privacidad y soberanía de datos 100% garantizada.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98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3876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6366F1"/>
                </a:solidFill>
                <a:latin typeface="Segoe UI" panose="020B0502040204020203" pitchFamily="34" charset="0"/>
              </a:rPr>
              <a:t>GENERACIÓN DOCUMENTAL</a:t>
            </a:r>
            <a:endParaRPr lang="en-US" sz="900" b="1">
              <a:solidFill>
                <a:srgbClr val="6366F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Módulo RAG: Retrieval-Augmented Generation con PDFs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Cómo los docentes vinculan sus libros de texto oficiales para crear cuestionarios pertinentes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5334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952500" y="1905000"/>
            <a:ext cx="4699000" cy="244682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6366F1"/>
                </a:solidFill>
                <a:latin typeface="Segoe UI" panose="020B0502040204020203" pitchFamily="34" charset="0"/>
              </a:rPr>
              <a:t>¿QUÉ ES RAG Y POR QUÉ ES VITAL EN EL AULA?</a:t>
            </a:r>
          </a:p>
          <a:p>
            <a:r>
              <a:rPr lang="es-ES" sz="1100" smtClean="0">
                <a:solidFill>
                  <a:srgbClr val="06B6D4"/>
                </a:solidFill>
                <a:latin typeface="Segoe UI" panose="020B0502040204020203" pitchFamily="34" charset="0"/>
              </a:rPr>
              <a:t>Generación Contextualizada Basada en el Temario Oficial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Supera las alucinaciones genéricas: La IA no inventa hechos ni recurre a cultura general irrelevante; formula preguntas estrictamente sobre el libro cargado.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Alineación Curricular Exacta: Permite evaluar exactamente el capítulo visto en clase (ej. 'Capítulo 4: Revolución Industrial' o 'Módulo 2: Enlaces Químicos').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Hasta 10 Documentos PDF Simultáneos: El docente carga libros, guías pedagógicas o reglamentos desde la pestaña de Ajustes Globales (⚙️).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Extracción en Milisegundos con pypdf: Parseo ultra-rápido de texto sin sobrecargar la memoria RAM de la computadora escolar.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6223000" y="1651000"/>
            <a:ext cx="5334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6540500" y="1905000"/>
            <a:ext cx="4699000" cy="244682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A855F7"/>
                </a:solidFill>
                <a:latin typeface="Segoe UI" panose="020B0502040204020203" pitchFamily="34" charset="0"/>
              </a:rPr>
              <a:t>PIPELINE TÉCNICO DE EXTRACCIÓN RAG</a:t>
            </a:r>
          </a:p>
          <a:p>
            <a:r>
              <a:rPr lang="es-ES" sz="1100" smtClean="0">
                <a:solidFill>
                  <a:srgbClr val="06B6D4"/>
                </a:solidFill>
                <a:latin typeface="Segoe UI" panose="020B0502040204020203" pitchFamily="34" charset="0"/>
              </a:rPr>
              <a:t>Flujo de Procesamiento del Worker Local (ai_worker.py)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1. Detección y Lectura: El módulo escanea las rutas de los PDFs guardadas en preferences.json mediante la biblioteca pypdf.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2. Filtrado Léxico Relevante: Compara las palabras clave del tema solicitado con cada página de los libros, seleccionando los fragmentos con mayor número de coincidencias.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3. Compresión en Chunks: Resume los extractos más pertinentes hasta un máximo seguro de 3,500 caracteres para no desbordar la ventana de contexto.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4. Inyección al System Prompt: Instruye al modelo Qwen a actuar como examinador formal basándose de forma estricta en el material adjunto.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215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8956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10B981"/>
                </a:solidFill>
                <a:latin typeface="Segoe UI" panose="020B0502040204020203" pitchFamily="34" charset="0"/>
              </a:rPr>
              <a:t>INGENIERÍA ANTI-DUPLICADOS</a:t>
            </a:r>
            <a:endParaRPr lang="en-US" sz="9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Motor Anti-Colisión: Evitando Preguntas Cercanas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Algoritmos matemáticos y lingüísticos que garantizan variedad y diversidad total en el juego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5334000" cy="203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889000" y="1841500"/>
            <a:ext cx="4826000" cy="15311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00" b="1" smtClean="0">
                <a:solidFill>
                  <a:srgbClr val="FFFFFF"/>
                </a:solidFill>
                <a:latin typeface="Segoe UI" panose="020B0502040204020203" pitchFamily="34" charset="0"/>
              </a:rPr>
              <a:t>1. Normalización y Filtrado de Stopwords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Elimina tildes, mayúsculas, signos y palabras vacías ('el', 'de', 'para', 'cuál'). Aísla los términos significativos para comparar la esencia factual de cada pregunta.</a:t>
            </a:r>
            <a:endParaRPr lang="en-US"/>
          </a:p>
        </p:txBody>
      </p:sp>
      <p:sp>
        <p:nvSpPr>
          <p:cNvPr id="7" name="Rectángulo redondeado 6"/>
          <p:cNvSpPr/>
          <p:nvPr/>
        </p:nvSpPr>
        <p:spPr>
          <a:xfrm>
            <a:off x="6223000" y="1651000"/>
            <a:ext cx="5334000" cy="203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6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6477000" y="1841500"/>
            <a:ext cx="4826000" cy="15311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00" b="1" smtClean="0">
                <a:solidFill>
                  <a:srgbClr val="FFFFFF"/>
                </a:solidFill>
                <a:latin typeface="Segoe UI" panose="020B0502040204020203" pitchFamily="34" charset="0"/>
              </a:rPr>
              <a:t>2. Solapamiento de Tokens y Jaccard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Calcula el coeficiente de solapamiento y la similitud de Jaccard entre preguntas. Si dos preguntas comparten más del 50% de términos clave, la descarta por redundante.</a:t>
            </a:r>
            <a:endParaRPr lang="en-US"/>
          </a:p>
        </p:txBody>
      </p:sp>
      <p:sp>
        <p:nvSpPr>
          <p:cNvPr id="9" name="Rectángulo redondeado 8"/>
          <p:cNvSpPr/>
          <p:nvPr/>
        </p:nvSpPr>
        <p:spPr>
          <a:xfrm>
            <a:off x="635000" y="3937000"/>
            <a:ext cx="5334000" cy="203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889000" y="4127500"/>
            <a:ext cx="4826000" cy="15311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00" b="1" smtClean="0">
                <a:solidFill>
                  <a:srgbClr val="FFFFFF"/>
                </a:solidFill>
                <a:latin typeface="Segoe UI" panose="020B0502040204020203" pitchFamily="34" charset="0"/>
              </a:rPr>
              <a:t>3. Detección de Inversión (Cross-Leak)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Impide que una nueva pregunta use la respuesta de una pregunta previa como enunciado o pista (inversión de premisas), evitando pistas circulares involuntarias.</a:t>
            </a:r>
            <a:endParaRPr lang="en-US"/>
          </a:p>
        </p:txBody>
      </p:sp>
      <p:sp>
        <p:nvSpPr>
          <p:cNvPr id="11" name="Rectángulo redondeado 10"/>
          <p:cNvSpPr/>
          <p:nvPr/>
        </p:nvSpPr>
        <p:spPr>
          <a:xfrm>
            <a:off x="6223000" y="3937000"/>
            <a:ext cx="5334000" cy="203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/>
          <p:cNvSpPr txBox="1"/>
          <p:nvPr/>
        </p:nvSpPr>
        <p:spPr>
          <a:xfrm>
            <a:off x="6477000" y="4127500"/>
            <a:ext cx="4826000" cy="15311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00" b="1" smtClean="0">
                <a:solidFill>
                  <a:srgbClr val="FFFFFF"/>
                </a:solidFill>
                <a:latin typeface="Segoe UI" panose="020B0502040204020203" pitchFamily="34" charset="0"/>
              </a:rPr>
              <a:t>4. SequenceMatcher Text Ratio (&gt;72%)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Aplica difflib para comparar la similitud textual directa de enunciados y opciones. Si una respuesta o pregunta se parece en un 72%+ a una existente, se rechaza de inmediato.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98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33020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A855F7"/>
                </a:solidFill>
                <a:latin typeface="Segoe UI" panose="020B0502040204020203" pitchFamily="34" charset="0"/>
              </a:rPr>
              <a:t>MULTIMEDIA &amp; RECURSOS VISUALES</a:t>
            </a:r>
            <a:endParaRPr lang="en-US" sz="900" b="1">
              <a:solidFill>
                <a:srgbClr val="A855F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Búsqueda y Gestión de Imágenes: Local y Web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Estrategia para minijuegos visuales como Snap Solve, GeoLocation y Ahorcado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5334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952500" y="1905000"/>
            <a:ext cx="4699000" cy="229293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6366F1"/>
                </a:solidFill>
                <a:latin typeface="Segoe UI" panose="020B0502040204020203" pitchFamily="34" charset="0"/>
              </a:rPr>
              <a:t>BÚSQUEDA LOCAL EN DISCO</a:t>
            </a:r>
          </a:p>
          <a:p>
            <a:r>
              <a:rPr lang="es-ES" sz="1100" smtClean="0">
                <a:solidFill>
                  <a:srgbClr val="06B6D4"/>
                </a:solidFill>
                <a:latin typeface="Segoe UI" panose="020B0502040204020203" pitchFamily="34" charset="0"/>
              </a:rPr>
              <a:t>Independencia Absoluta para Escenarios Offline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Bancos de Recursos Pre-Cargados: Cada minijuego puede incluir su propia subcarpeta images/ con ilustraciones optimizadas en disco.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Cero Latencia de Descarga: Acceso instantáneo a archivos locales sin esperar tiempos de respuesta de servidores de internet.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Soporte para Contenido Propio del Docente: Los profesores pueden arrastrar sus propias fotografías o esquemas escolares a las carpetas del juego.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Indexación por Metadatos: El sistema asocia entidades del juego con archivos de imagen existentes mediante normalización de nombres.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6223000" y="1651000"/>
            <a:ext cx="5334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6540500" y="1905000"/>
            <a:ext cx="4699000" cy="229293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A855F7"/>
                </a:solidFill>
                <a:latin typeface="Segoe UI" panose="020B0502040204020203" pitchFamily="34" charset="0"/>
              </a:rPr>
              <a:t>BÚSQUEDA WEB EN BANCOS LIBRES</a:t>
            </a:r>
          </a:p>
          <a:p>
            <a:r>
              <a:rPr lang="es-ES" sz="1100" smtClean="0">
                <a:solidFill>
                  <a:srgbClr val="06B6D4"/>
                </a:solidFill>
                <a:latin typeface="Segoe UI" panose="020B0502040204020203" pitchFamily="34" charset="0"/>
              </a:rPr>
              <a:t>Acceso a Recursos con Licencia Libre y Segura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APIs de Freerange Stock y Wikimedia Commons: Búsqueda automatizada en bancos globales de fotografías con licencias de uso libre y Creative Commons.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Descarga Segura y Caché Local: Las imágenes seleccionadas se descargan una sola vez y se almacenan localmente; nunca se rompen durante la partida.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Filtrado Automático por Palabras Clave: La búsqueda añade términos de contexto temático para evitar resultados irrelevantes o ambiguos.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Protección de Derechos de Autor: Garantiza que las imágenes empleadas en instituciones públicas no infrinjan normativas de copyright comercial.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583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1844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6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06B6D4"/>
                </a:solidFill>
                <a:latin typeface="Segoe UI" panose="020B0502040204020203" pitchFamily="34" charset="0"/>
              </a:rPr>
              <a:t>VERIFICACIÓN VISUAL</a:t>
            </a:r>
            <a:endParaRPr lang="en-US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El Juez Visual Multimodal (Visión Artificial Local)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El proyector visual mmproj valida que las imágenes concuerden con el tema educativo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2603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825500" y="1841500"/>
            <a:ext cx="2222500" cy="256993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6366F1"/>
                </a:solidFill>
                <a:latin typeface="Segoe UI" panose="020B0502040204020203" pitchFamily="34" charset="0"/>
              </a:rPr>
              <a:t>[ 1 ]</a:t>
            </a:r>
          </a:p>
          <a:p>
            <a:r>
              <a:rPr lang="es-ES" sz="1300" b="1" smtClean="0">
                <a:solidFill>
                  <a:srgbClr val="FFFFFF"/>
                </a:solidFill>
                <a:latin typeface="Segoe UI" panose="020B0502040204020203" pitchFamily="34" charset="0"/>
              </a:rPr>
              <a:t>Inspección Visual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El proyector multimodal analiza los píxeles de la imagen antes de entregarla al juego, verificando qué elementos visuales contiene la fotografía.</a:t>
            </a:r>
            <a:endParaRPr lang="en-US"/>
          </a:p>
        </p:txBody>
      </p:sp>
      <p:sp>
        <p:nvSpPr>
          <p:cNvPr id="7" name="Rectángulo redondeado 6"/>
          <p:cNvSpPr/>
          <p:nvPr/>
        </p:nvSpPr>
        <p:spPr>
          <a:xfrm>
            <a:off x="3429000" y="1651000"/>
            <a:ext cx="2603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6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3619500" y="1841500"/>
            <a:ext cx="2222500" cy="284693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06B6D4"/>
                </a:solidFill>
                <a:latin typeface="Segoe UI" panose="020B0502040204020203" pitchFamily="34" charset="0"/>
              </a:rPr>
              <a:t>[ 2 ]</a:t>
            </a:r>
          </a:p>
          <a:p>
            <a:r>
              <a:rPr lang="es-ES" sz="1300" b="1" smtClean="0">
                <a:solidFill>
                  <a:srgbClr val="FFFFFF"/>
                </a:solidFill>
                <a:latin typeface="Segoe UI" panose="020B0502040204020203" pitchFamily="34" charset="0"/>
              </a:rPr>
              <a:t>Cotejo con el Tema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Compara la descripción visual de la imagen con la entidad del juego (ej: si se busca 'Mitocondria', valida que sea un esquema biológico real).</a:t>
            </a:r>
            <a:endParaRPr lang="en-US"/>
          </a:p>
        </p:txBody>
      </p:sp>
      <p:sp>
        <p:nvSpPr>
          <p:cNvPr id="9" name="Rectángulo redondeado 8"/>
          <p:cNvSpPr/>
          <p:nvPr/>
        </p:nvSpPr>
        <p:spPr>
          <a:xfrm>
            <a:off x="6223000" y="1651000"/>
            <a:ext cx="2603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6413500" y="1841500"/>
            <a:ext cx="2222500" cy="256993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10B981"/>
                </a:solidFill>
                <a:latin typeface="Segoe UI" panose="020B0502040204020203" pitchFamily="34" charset="0"/>
              </a:rPr>
              <a:t>[ 3 ]</a:t>
            </a:r>
          </a:p>
          <a:p>
            <a:r>
              <a:rPr lang="es-ES" sz="1300" b="1" smtClean="0">
                <a:solidFill>
                  <a:srgbClr val="FFFFFF"/>
                </a:solidFill>
                <a:latin typeface="Segoe UI" panose="020B0502040204020203" pitchFamily="34" charset="0"/>
              </a:rPr>
              <a:t>Cotejo con el RAG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Si hay documentos PDF activos, el juez visual valida si la imagen guarda coherencia con el contexto pedagógico del libro escolar.</a:t>
            </a:r>
            <a:endParaRPr lang="en-US"/>
          </a:p>
        </p:txBody>
      </p:sp>
      <p:sp>
        <p:nvSpPr>
          <p:cNvPr id="11" name="Rectángulo redondeado 10"/>
          <p:cNvSpPr/>
          <p:nvPr/>
        </p:nvSpPr>
        <p:spPr>
          <a:xfrm>
            <a:off x="9017000" y="1651000"/>
            <a:ext cx="2603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/>
          <p:cNvSpPr txBox="1"/>
          <p:nvPr/>
        </p:nvSpPr>
        <p:spPr>
          <a:xfrm>
            <a:off x="9207500" y="1841500"/>
            <a:ext cx="2222500" cy="284693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F59E0B"/>
                </a:solidFill>
                <a:latin typeface="Segoe UI" panose="020B0502040204020203" pitchFamily="34" charset="0"/>
              </a:rPr>
              <a:t>[ 4 ]</a:t>
            </a:r>
          </a:p>
          <a:p>
            <a:r>
              <a:rPr lang="es-ES" sz="1300" b="1" smtClean="0">
                <a:solidFill>
                  <a:srgbClr val="FFFFFF"/>
                </a:solidFill>
                <a:latin typeface="Segoe UI" panose="020B0502040204020203" pitchFamily="34" charset="0"/>
              </a:rPr>
              <a:t>Descarte Inteligente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Si la imagen es genérica, borrosa o no corresponde al objeto buscado, el sistema la rechaza automáticamente y busca la siguiente opción.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83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7940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F59E0B"/>
                </a:solidFill>
                <a:latin typeface="Segoe UI" panose="020B0502040204020203" pitchFamily="34" charset="0"/>
              </a:rPr>
              <a:t>MODERACIÓN &amp; CONTROL K-12</a:t>
            </a:r>
            <a:endParaRPr lang="en-US" sz="9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Filtros de Seguridad y Niveles de Estrictez Escolar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Protegiendo el aula de clases con múltiples capas de contención ética y léxica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863600" y="1841500"/>
            <a:ext cx="3048000" cy="268996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F59E0B"/>
                </a:solidFill>
                <a:latin typeface="Segoe UI" panose="020B0502040204020203" pitchFamily="34" charset="0"/>
              </a:rPr>
              <a:t>Lista Negra Léxica Estricta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PROHIBITED_KEYWORDS: Bloqueo categórico de términos relacionados con contenido para adultos, erotismo y pornografía.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Filtro de Sustancias y Drogas: Detección y rechazo de narcóticos, estupefacientes y medicamentos no pedagógicos.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Filtro de Violencia y Armas: Bloqueo de armas de fuego, explosivos, cuchillos y terminología bélica agresiva.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Mensaje pedagógico de advertencia: Si un alumno ingresa un tema no apto, el sistema rechaza la solicitud educadamente.</a:t>
            </a:r>
            <a:endParaRPr lang="en-US" sz="98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43815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4610100" y="1841500"/>
            <a:ext cx="3048000" cy="261917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6366F1"/>
                </a:solidFill>
                <a:latin typeface="Segoe UI" panose="020B0502040204020203" pitchFamily="34" charset="0"/>
              </a:rPr>
              <a:t>Filtros de Seguridad en Imágenes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SAFETY_PROHIBITED_TERMS: Filtro bidireccional en español e inglés en las consultas de búsqueda de imágenes web.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Bloqueo de términos de desnudez, violencia explícita o drogas en metadatos y descripciones de Wikimedia.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Inspección de etiquetas (tags) antes de descargar cualquier archivo binario a la máquina del colegio.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Prevención de imágenes engañosas o memes inapropiados para menores de edad.</a:t>
            </a:r>
            <a:endParaRPr lang="en-US" sz="98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81280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8356600" y="1841500"/>
            <a:ext cx="3048000" cy="268996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10B981"/>
                </a:solidFill>
                <a:latin typeface="Segoe UI" panose="020B0502040204020203" pitchFamily="34" charset="0"/>
              </a:rPr>
              <a:t>Niveles de Estrictez Configurable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Modo K-12 Escolar (Máxima Estrictez): Tolerancia cero ante cualquier ambigüedad; todas las preguntas deben ser 100% académicas.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Modo Familiar / Comunitario: Permite cultura pop, cine, deportes y literatura manteniendo los filtros de seguridad intactos.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Modo Corporativo: Orientado a inductores de empresas con soporte para manuales de seguridad laboral y procesos internos.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Auditoría visible: El docente siempre revisa y edita los cuestionarios generados en el botón de Setup antes de iniciar la arena.</a:t>
            </a:r>
            <a:endParaRPr lang="en-US" sz="98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361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5908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10B981"/>
                </a:solidFill>
                <a:latin typeface="Segoe UI" panose="020B0502040204020203" pitchFamily="34" charset="0"/>
              </a:rPr>
              <a:t>RESUMEN DE ARQUITECTURA</a:t>
            </a:r>
            <a:endParaRPr lang="en-US" sz="9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Inteligencia Artificial Ética, Soberana y al Servicio de la Educación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El poder de los modelos de lenguaje modernos combinado con la máxima seguridad infantil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10922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1016000" y="1905000"/>
            <a:ext cx="10160000" cy="260840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600" b="1" smtClean="0">
                <a:solidFill>
                  <a:srgbClr val="FFFFFF"/>
                </a:solidFill>
                <a:latin typeface="Segoe UI" panose="020B0502040204020203" pitchFamily="34" charset="0"/>
              </a:rPr>
              <a:t>â˜… RESUMEN EJECUTIVO Y CONCLUSIONES</a:t>
            </a:r>
          </a:p>
          <a:p>
            <a:endParaRPr lang="es-ES" sz="1100" smtClean="0">
              <a:solidFill>
                <a:srgbClr val="06B6D4"/>
              </a:solidFill>
              <a:latin typeface="Segoe UI" panose="020B0502040204020203" pitchFamily="34" charset="0"/>
            </a:endParaRPr>
          </a:p>
          <a:p>
            <a:r>
              <a:rPr lang="es-ES" sz="1050" smtClean="0">
                <a:solidFill>
                  <a:srgbClr val="94A3B8"/>
                </a:solidFill>
                <a:latin typeface="Segoe UI" panose="020B0502040204020203" pitchFamily="34" charset="0"/>
              </a:rPr>
              <a:t>Game Show Center demuestra que es posible implementar Inteligencia Artificial de vanguardia en las escuelas sin depender de suscripciones costosas ni comprometer la privacidad de los menores.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50" smtClean="0">
                <a:solidFill>
                  <a:srgbClr val="94A3B8"/>
                </a:solidFill>
                <a:latin typeface="Segoe UI" panose="020B0502040204020203" pitchFamily="34" charset="0"/>
              </a:rPr>
              <a:t>â€¢ Soberanía Tecnológica: 100% funcional en local con modelos GGUF optimizados y cero consumo de APIs en la nube.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50" smtClean="0">
                <a:solidFill>
                  <a:srgbClr val="94A3B8"/>
                </a:solidFill>
                <a:latin typeface="Segoe UI" panose="020B0502040204020203" pitchFamily="34" charset="0"/>
              </a:rPr>
              <a:t>â€¢ Pertinencia Curricular: El módulo RAG asegura que las preguntas nazcan directamente de los libros oficiales del profesor.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50" smtClean="0">
                <a:solidFill>
                  <a:srgbClr val="94A3B8"/>
                </a:solidFill>
                <a:latin typeface="Segoe UI" panose="020B0502040204020203" pitchFamily="34" charset="0"/>
              </a:rPr>
              <a:t>â€¢ Variedad sin Colisiones: Filtros matemáticos avanzados que impiden preguntas repetidas o cercanas, asegurando partidas dinámicas.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50" smtClean="0">
                <a:solidFill>
                  <a:srgbClr val="94A3B8"/>
                </a:solidFill>
                <a:latin typeface="Segoe UI" panose="020B0502040204020203" pitchFamily="34" charset="0"/>
              </a:rPr>
              <a:t>â€¢ Seguridad Escolar Inquebrantable: Filtros léxicos y juez visual que blindan el aula contra cualquier contenido inapropiado.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300" b="1" smtClean="0">
                <a:solidFill>
                  <a:srgbClr val="F59E0B"/>
                </a:solidFill>
                <a:latin typeface="Segoe UI" panose="020B0502040204020203" pitchFamily="34" charset="0"/>
              </a:rPr>
              <a:t>Tecnología de punta diseñada con responsabilidad pedagógica</a:t>
            </a:r>
          </a:p>
          <a:p>
            <a:r>
              <a:rPr lang="es-ES" sz="1100" smtClean="0">
                <a:solidFill>
                  <a:srgbClr val="FFFFFF"/>
                </a:solidFill>
                <a:latin typeface="Segoe UI" panose="020B0502040204020203" pitchFamily="34" charset="0"/>
              </a:rPr>
              <a:t>YonIA Enterprise • Arquitectura de Software • yoniadevs@gmail.com</a:t>
            </a:r>
            <a:endParaRPr lang="en-US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1619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1601</Words>
  <Application>Microsoft Office PowerPoint</Application>
  <PresentationFormat>Personalizado</PresentationFormat>
  <Paragraphs>149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Segoe UI Black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Administrador Pc</dc:creator>
  <cp:lastModifiedBy>Administrador Pc</cp:lastModifiedBy>
  <cp:revision>1</cp:revision>
  <dcterms:created xsi:type="dcterms:W3CDTF">2026-10-12T07:19:50Z</dcterms:created>
  <dcterms:modified xsi:type="dcterms:W3CDTF">2026-10-12T07:19:50Z</dcterms:modified>
</cp:coreProperties>
</file>